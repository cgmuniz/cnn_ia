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8" r:id="rId3"/>
    <p:sldId id="273" r:id="rId4"/>
    <p:sldId id="283" r:id="rId5"/>
    <p:sldId id="284" r:id="rId6"/>
    <p:sldId id="278" r:id="rId7"/>
    <p:sldId id="276" r:id="rId8"/>
    <p:sldId id="274" r:id="rId9"/>
    <p:sldId id="275" r:id="rId10"/>
    <p:sldId id="286" r:id="rId11"/>
    <p:sldId id="288" r:id="rId12"/>
    <p:sldId id="268" r:id="rId13"/>
    <p:sldId id="285" r:id="rId14"/>
    <p:sldId id="260" r:id="rId15"/>
    <p:sldId id="257" r:id="rId16"/>
    <p:sldId id="291" r:id="rId17"/>
    <p:sldId id="290" r:id="rId18"/>
    <p:sldId id="280" r:id="rId19"/>
    <p:sldId id="279" r:id="rId20"/>
    <p:sldId id="267" r:id="rId21"/>
    <p:sldId id="269" r:id="rId22"/>
    <p:sldId id="289" r:id="rId23"/>
    <p:sldId id="270" r:id="rId24"/>
    <p:sldId id="282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12F30-5231-44B1-83C4-B9D14B45E5EE}" type="datetimeFigureOut">
              <a:rPr lang="pt-BR" smtClean="0"/>
              <a:t>20/06/2025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A8925-5DCB-4D23-AC4D-583C6479D8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82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229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5981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F3169-D9E7-62FB-D3E7-EA63E28B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E720A4-AEFC-DAFF-6688-C322452F5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E92DB9-D73F-6799-8519-AFA2724EF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0FABBA-7E52-C276-6448-60B877398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835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262-6BA9-5F5D-C8D2-A1D9243E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57D51E-6BC0-F396-E4AD-B9CDF347F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EA17D1-7040-768D-9F71-F5FB59D69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56CB90-0596-0FB8-7C5D-171F0B1E5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527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5BB5-E4E7-26B3-7ACC-638B771E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7FAF61-B5C3-7D0C-E71F-FA80850B9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5E6600-4D15-7B1D-9625-AD03EFD96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56B6D2-707F-9D06-83FC-28B49B75F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59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917E-082E-2645-85BE-B6DD6411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1B39D22-1883-82CC-C79F-D8A6DAF1A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1292EB-3B98-64FE-743C-305C30994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A12CED-219E-BBE9-E721-810DF146F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760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FEC7E-D15A-8A33-6296-33522AB7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F794F83-EC45-6DCA-6E13-924204857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3C08AE-6690-6976-FA01-E462311E6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A8C5D8-8012-881A-EB51-E3440DA38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394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7116-C541-C8AA-BB16-B689228A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B3A17F-97B6-49A0-E09C-B8C5E4B73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190995-A733-334E-1726-91B301155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897713-6641-7A36-75EE-D35992D01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302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97B9-6F4E-20BD-51E0-41C94A75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3FFFD9-7354-D188-D1ED-8BA41DCA1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F68E39-26BA-E3A5-C3CA-540C01567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5EB0F1-E1B3-A819-4731-9870B11D3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628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3CE28-9D1B-DDB2-9F26-74A904F2C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F1E072-BE2B-2621-A92D-2F7E01A43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98184E-BC79-1C8C-FB82-0F422D9ED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B8AAD4-76E3-E63D-8A92-3AE037A25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496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058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B11F-BE5F-073B-AF4A-EC7212B5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021E75-02EC-3016-EC5E-E051826D6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D8BB94-7A4B-3155-6AFF-3DDAE830B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531BD0-0B52-B7AE-AC68-471E6562D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354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D267-CCDF-17FA-5BE8-0711A04C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895838-9B11-73B8-C291-CBDB31A24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33D6AF-2C72-80A2-B72C-7A810A26A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A4CF78-FAFD-07FD-FCEC-485A3DD04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A8925-5DCB-4D23-AC4D-583C6479D886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213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4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75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2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0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4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5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4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2544EE8-9728-4757-9996-A1FB9AB0A83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60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B0E07B-4BE4-7B9D-3E1B-2EB5AC72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41" y="736600"/>
            <a:ext cx="4230617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dirty="0">
                <a:solidFill>
                  <a:srgbClr val="FFFFFF"/>
                </a:solidFill>
              </a:rPr>
              <a:t>MLP</a:t>
            </a: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6800" dirty="0" err="1">
                <a:solidFill>
                  <a:srgbClr val="FFFFFF"/>
                </a:solidFill>
              </a:rPr>
              <a:t>Vídeo</a:t>
            </a:r>
            <a:r>
              <a:rPr lang="en-US" sz="6800" dirty="0">
                <a:solidFill>
                  <a:srgbClr val="FFFFFF"/>
                </a:solidFill>
              </a:rPr>
              <a:t> 3</a:t>
            </a: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4400" dirty="0" err="1">
                <a:solidFill>
                  <a:srgbClr val="FFFFFF"/>
                </a:solidFill>
              </a:rPr>
              <a:t>Implementação</a:t>
            </a:r>
            <a:r>
              <a:rPr lang="en-US" sz="4400" dirty="0">
                <a:solidFill>
                  <a:srgbClr val="FFFFFF"/>
                </a:solidFill>
              </a:rPr>
              <a:t> e testes: CNN</a:t>
            </a:r>
            <a:endParaRPr lang="en-US" sz="6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6DD6B0-3364-2E50-0E57-6D939B78F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4734" y="1805095"/>
            <a:ext cx="7745542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chemeClr val="lt1"/>
                </a:solidFill>
              </a:rPr>
              <a:t>11796718 – LUCAS SARTOR CHAUVIN</a:t>
            </a:r>
            <a:endParaRPr lang="pt-BR" sz="2600" dirty="0"/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600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rgbClr val="FFFFFF"/>
                </a:solidFill>
              </a:rPr>
              <a:t>12873188 –  GABRIEL BERNARDINI SCHIMIDT</a:t>
            </a: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chemeClr val="lt1"/>
                </a:solidFill>
              </a:rPr>
              <a:t>14564405 – CAUÃ GABRIEL MUNIZ DOS SANTOS</a:t>
            </a:r>
            <a:br>
              <a:rPr lang="pt-BR" sz="2600" dirty="0">
                <a:solidFill>
                  <a:schemeClr val="lt1"/>
                </a:solidFill>
              </a:rPr>
            </a:br>
            <a:br>
              <a:rPr lang="pt-BR" sz="2600" dirty="0">
                <a:solidFill>
                  <a:srgbClr val="FFFFFF"/>
                </a:solidFill>
              </a:rPr>
            </a:br>
            <a:r>
              <a:rPr lang="pt-BR" sz="2600" dirty="0">
                <a:solidFill>
                  <a:srgbClr val="FFFFFF"/>
                </a:solidFill>
              </a:rPr>
              <a:t>14592498 –  LUIS YUDI ODAKE FERREIRA</a:t>
            </a: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rgbClr val="FFFFFF"/>
                </a:solidFill>
              </a:rPr>
              <a:t>14778136 – LEONEL MARCO ANTONIO MORGADO</a:t>
            </a:r>
            <a:endParaRPr lang="pt-BR" sz="2600" dirty="0"/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800" i="1" dirty="0">
              <a:solidFill>
                <a:srgbClr val="FFFFFF"/>
              </a:solidFill>
            </a:endParaRPr>
          </a:p>
          <a:p>
            <a:endParaRPr lang="en-US" sz="28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98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F6C9-D4E4-A0F3-62A5-83E4DCAD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F06A54A-5E63-05F6-99F4-76C36213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de treinamento e teste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DC812D6-D56B-8C53-10CF-ABE4F9E9B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2540"/>
          </a:xfrm>
        </p:spPr>
        <p:txBody>
          <a:bodyPr>
            <a:normAutofit/>
          </a:bodyPr>
          <a:lstStyle/>
          <a:p>
            <a:r>
              <a:rPr lang="pt-BR" dirty="0"/>
              <a:t>A implementação do CNN foi feita utilizando Python e suas seguintes bibliotecas: </a:t>
            </a:r>
          </a:p>
          <a:p>
            <a:pPr lvl="1"/>
            <a:r>
              <a:rPr lang="pt-BR" dirty="0"/>
              <a:t>TensorFlow e Keras: construção e treinamento das redes neurais CNN e MLP;</a:t>
            </a:r>
          </a:p>
          <a:p>
            <a:pPr lvl="1"/>
            <a:r>
              <a:rPr lang="pt-BR" dirty="0"/>
              <a:t>Keras Tuner: ajuste automático de hiperparâmetros;</a:t>
            </a:r>
          </a:p>
          <a:p>
            <a:pPr lvl="1"/>
            <a:r>
              <a:rPr lang="pt-BR" dirty="0"/>
              <a:t>Scikit-learn: divisão de conjuntos de dados e cálculo de métricas;</a:t>
            </a:r>
          </a:p>
          <a:p>
            <a:pPr lvl="1"/>
            <a:r>
              <a:rPr lang="pt-BR" dirty="0"/>
              <a:t>Matplotlib e Seaborn: criação de imagens para visualização;</a:t>
            </a:r>
          </a:p>
          <a:p>
            <a:pPr lvl="1"/>
            <a:r>
              <a:rPr lang="pt-BR" dirty="0"/>
              <a:t>NumPy e Pandas: manipulação de dados;</a:t>
            </a:r>
          </a:p>
          <a:p>
            <a:pPr lvl="1"/>
            <a:r>
              <a:rPr lang="pt-BR" dirty="0"/>
              <a:t>Scikit-image: extração de características HOG (para MLPs).</a:t>
            </a:r>
          </a:p>
          <a:p>
            <a:pPr marL="201168" lvl="1" indent="0">
              <a:buNone/>
            </a:pPr>
            <a:endParaRPr lang="pt-BR" dirty="0"/>
          </a:p>
          <a:p>
            <a:pPr marL="201168" lvl="1" indent="0">
              <a:buNone/>
            </a:pPr>
            <a:r>
              <a:rPr lang="pt-BR" sz="2000" dirty="0"/>
              <a:t>Hardware utilizado:</a:t>
            </a:r>
          </a:p>
          <a:p>
            <a:pPr marL="201168" lvl="1" indent="0">
              <a:buNone/>
            </a:pPr>
            <a:r>
              <a:rPr lang="pt-BR" sz="2000" dirty="0"/>
              <a:t>	CPU: i5-9400F 8GB RAM</a:t>
            </a:r>
          </a:p>
          <a:p>
            <a:pPr marL="201168" lvl="1" indent="0">
              <a:buNone/>
            </a:pPr>
            <a:r>
              <a:rPr lang="pt-BR" sz="2000" dirty="0"/>
              <a:t>	GPU: GTX 1650</a:t>
            </a:r>
          </a:p>
        </p:txBody>
      </p:sp>
    </p:spTree>
    <p:extLst>
      <p:ext uri="{BB962C8B-B14F-4D97-AF65-F5344CB8AC3E}">
        <p14:creationId xmlns:p14="http://schemas.microsoft.com/office/powerpoint/2010/main" val="167758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2082-1E16-3630-BDF4-58DCDF88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C4AE184-2562-A1BC-69FB-90136539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de treinamento e teste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8306440-0DA3-6414-9DD6-FB5068B51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2540"/>
          </a:xfrm>
        </p:spPr>
        <p:txBody>
          <a:bodyPr>
            <a:normAutofit/>
          </a:bodyPr>
          <a:lstStyle/>
          <a:p>
            <a:r>
              <a:rPr lang="pt-BR" sz="2000" dirty="0"/>
              <a:t>São executados 4 experimentos:</a:t>
            </a:r>
          </a:p>
          <a:p>
            <a:pPr lvl="1"/>
            <a:r>
              <a:rPr lang="pt-BR" dirty="0"/>
              <a:t>CNN Multiclasse;</a:t>
            </a:r>
          </a:p>
          <a:p>
            <a:pPr lvl="1"/>
            <a:r>
              <a:rPr lang="pt-BR" dirty="0"/>
              <a:t>CNN Binário;</a:t>
            </a:r>
          </a:p>
          <a:p>
            <a:pPr lvl="1"/>
            <a:r>
              <a:rPr lang="pt-BR" dirty="0"/>
              <a:t>MLP + HOG Multiclasse;</a:t>
            </a:r>
          </a:p>
          <a:p>
            <a:pPr lvl="1"/>
            <a:r>
              <a:rPr lang="pt-BR" dirty="0"/>
              <a:t>MLP + HOG Binário.</a:t>
            </a:r>
          </a:p>
          <a:p>
            <a:pPr marL="201168" lvl="1" indent="0">
              <a:buNone/>
            </a:pPr>
            <a:endParaRPr lang="pt-BR" dirty="0"/>
          </a:p>
          <a:p>
            <a:pPr marL="201168" lvl="1" indent="0">
              <a:buNone/>
            </a:pPr>
            <a:r>
              <a:rPr lang="pt-BR" dirty="0"/>
              <a:t>Cada experimento é dividido em 6 etapas:</a:t>
            </a:r>
          </a:p>
          <a:p>
            <a:pPr marL="201168" lvl="1" indent="0">
              <a:buNone/>
            </a:pPr>
            <a:r>
              <a:rPr lang="pt-BR" dirty="0"/>
              <a:t>1. Preparação e Pré-processamento dos dados</a:t>
            </a:r>
          </a:p>
          <a:p>
            <a:pPr marL="201168" lvl="1" indent="0">
              <a:buNone/>
            </a:pPr>
            <a:r>
              <a:rPr lang="pt-BR" dirty="0"/>
              <a:t>2. Construção do modelo de rede</a:t>
            </a:r>
          </a:p>
          <a:p>
            <a:pPr marL="201168" lvl="1" indent="0">
              <a:buNone/>
            </a:pPr>
            <a:r>
              <a:rPr lang="pt-BR" dirty="0"/>
              <a:t>3. Otimização de hiperparâmetros (</a:t>
            </a:r>
            <a:r>
              <a:rPr lang="pt-BR" dirty="0" err="1"/>
              <a:t>Tuning</a:t>
            </a:r>
            <a:r>
              <a:rPr lang="pt-BR" dirty="0"/>
              <a:t>)</a:t>
            </a:r>
          </a:p>
          <a:p>
            <a:pPr marL="201168" lvl="1" indent="0">
              <a:buNone/>
            </a:pPr>
            <a:r>
              <a:rPr lang="pt-BR" dirty="0"/>
              <a:t>4. Treinamento</a:t>
            </a:r>
          </a:p>
          <a:p>
            <a:pPr marL="201168" lvl="1" indent="0">
              <a:buNone/>
            </a:pPr>
            <a:r>
              <a:rPr lang="pt-BR" dirty="0"/>
              <a:t>5. Avaliação</a:t>
            </a:r>
          </a:p>
          <a:p>
            <a:pPr marL="201168" lvl="1" indent="0">
              <a:buNone/>
            </a:pPr>
            <a:r>
              <a:rPr lang="pt-BR" dirty="0"/>
              <a:t>6. Salvamento dos resultados</a:t>
            </a:r>
          </a:p>
        </p:txBody>
      </p:sp>
    </p:spTree>
    <p:extLst>
      <p:ext uri="{BB962C8B-B14F-4D97-AF65-F5344CB8AC3E}">
        <p14:creationId xmlns:p14="http://schemas.microsoft.com/office/powerpoint/2010/main" val="140369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0A5-8B2D-99E6-5551-6E32C918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FD5297F-10A7-23AC-A34B-664483778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612" y="1069692"/>
            <a:ext cx="5316917" cy="5590777"/>
          </a:xfrm>
          <a:prstGeom prst="rect">
            <a:avLst/>
          </a:prstGeom>
        </p:spPr>
      </p:pic>
      <p:sp>
        <p:nvSpPr>
          <p:cNvPr id="12" name="Título 5">
            <a:extLst>
              <a:ext uri="{FF2B5EF4-FFF2-40B4-BE49-F238E27FC236}">
                <a16:creationId xmlns:a16="http://schemas.microsoft.com/office/drawing/2014/main" id="{6C319CD6-4892-A87F-207B-5E2B408E4786}"/>
              </a:ext>
            </a:extLst>
          </p:cNvPr>
          <p:cNvSpPr txBox="1">
            <a:spLocks/>
          </p:cNvSpPr>
          <p:nvPr/>
        </p:nvSpPr>
        <p:spPr>
          <a:xfrm>
            <a:off x="370787" y="197531"/>
            <a:ext cx="10611439" cy="747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Execução do Experimento - Implementação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08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1313-97DE-F704-5C28-2B288E55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0D070F-C18F-E8E1-4950-017828DDA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73" y="1529155"/>
            <a:ext cx="7729653" cy="3799689"/>
          </a:xfrm>
          <a:prstGeom prst="rect">
            <a:avLst/>
          </a:prstGeom>
        </p:spPr>
      </p:pic>
      <p:sp>
        <p:nvSpPr>
          <p:cNvPr id="4" name="Título 5">
            <a:extLst>
              <a:ext uri="{FF2B5EF4-FFF2-40B4-BE49-F238E27FC236}">
                <a16:creationId xmlns:a16="http://schemas.microsoft.com/office/drawing/2014/main" id="{289F6954-06FE-8A2F-8C91-708AA1311C24}"/>
              </a:ext>
            </a:extLst>
          </p:cNvPr>
          <p:cNvSpPr txBox="1">
            <a:spLocks/>
          </p:cNvSpPr>
          <p:nvPr/>
        </p:nvSpPr>
        <p:spPr>
          <a:xfrm>
            <a:off x="370787" y="197531"/>
            <a:ext cx="10611439" cy="747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Avaliação do modelo – Implementação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8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27275-CDEB-DA29-0AAD-F2861FB3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DAD5C0-6A43-7666-6EC2-D3FCA7D5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413" y="931922"/>
            <a:ext cx="10058400" cy="731493"/>
          </a:xfrm>
        </p:spPr>
        <p:txBody>
          <a:bodyPr>
            <a:normAutofit fontScale="90000"/>
          </a:bodyPr>
          <a:lstStyle/>
          <a:p>
            <a:r>
              <a:rPr lang="pt-BR" dirty="0"/>
              <a:t>Análise Camadas de Convolução Multiclasse</a:t>
            </a:r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FEE825E-A784-13C1-9D54-07991F161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8" y="1865116"/>
            <a:ext cx="11127103" cy="4450842"/>
          </a:xfrm>
        </p:spPr>
      </p:pic>
    </p:spTree>
    <p:extLst>
      <p:ext uri="{BB962C8B-B14F-4D97-AF65-F5344CB8AC3E}">
        <p14:creationId xmlns:p14="http://schemas.microsoft.com/office/powerpoint/2010/main" val="165454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2E5B-D8C2-D709-F96F-22E172A3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B0190B3-0B2B-8CA6-6AEB-A6CDF59C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413" y="931922"/>
            <a:ext cx="10058400" cy="731493"/>
          </a:xfrm>
        </p:spPr>
        <p:txBody>
          <a:bodyPr/>
          <a:lstStyle/>
          <a:p>
            <a:r>
              <a:rPr lang="pt-BR" dirty="0"/>
              <a:t>Análise Camadas de Convolução Binária</a:t>
            </a:r>
            <a:endParaRPr lang="en-US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15DB5A72-B11F-5AC7-52FC-7EFCA7E4D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97" y="1789702"/>
            <a:ext cx="11197806" cy="4479123"/>
          </a:xfrm>
        </p:spPr>
      </p:pic>
    </p:spTree>
    <p:extLst>
      <p:ext uri="{BB962C8B-B14F-4D97-AF65-F5344CB8AC3E}">
        <p14:creationId xmlns:p14="http://schemas.microsoft.com/office/powerpoint/2010/main" val="843850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F781-FADA-AD07-3C59-2C9C2AB4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C24E524-F909-969D-6A50-CA391EF5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413" y="931922"/>
            <a:ext cx="10058400" cy="731493"/>
          </a:xfrm>
        </p:spPr>
        <p:txBody>
          <a:bodyPr/>
          <a:lstStyle/>
          <a:p>
            <a:r>
              <a:rPr lang="pt-BR" dirty="0"/>
              <a:t>Acurácia x Tempo</a:t>
            </a:r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AC1DFFE-9309-6A7B-DD7C-80FA57DFB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490" y="1838226"/>
            <a:ext cx="6759019" cy="4506013"/>
          </a:xfrm>
        </p:spPr>
      </p:pic>
    </p:spTree>
    <p:extLst>
      <p:ext uri="{BB962C8B-B14F-4D97-AF65-F5344CB8AC3E}">
        <p14:creationId xmlns:p14="http://schemas.microsoft.com/office/powerpoint/2010/main" val="427798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EBBE-3DD5-4177-C8A4-5EAD6704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336A790-A6DD-82A2-8EFF-724EC278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413" y="931922"/>
            <a:ext cx="10058400" cy="731493"/>
          </a:xfrm>
        </p:spPr>
        <p:txBody>
          <a:bodyPr/>
          <a:lstStyle/>
          <a:p>
            <a:r>
              <a:rPr lang="pt-BR" dirty="0"/>
              <a:t>Taxa de Aprendizado x Tempo</a:t>
            </a:r>
            <a:endParaRPr lang="en-US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8509030-E429-8EDD-68CC-FBD630407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461" y="1770848"/>
            <a:ext cx="6732823" cy="4488549"/>
          </a:xfrm>
        </p:spPr>
      </p:pic>
    </p:spTree>
    <p:extLst>
      <p:ext uri="{BB962C8B-B14F-4D97-AF65-F5344CB8AC3E}">
        <p14:creationId xmlns:p14="http://schemas.microsoft.com/office/powerpoint/2010/main" val="194860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2845-D3F0-1159-D249-C8BAF87B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A7306B1-73E9-C7D7-D9A6-EE04E3826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81" y="65988"/>
            <a:ext cx="7629438" cy="31789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F2F4BB4-064F-6E3A-B7B9-D1BA344FE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83" y="3169506"/>
            <a:ext cx="7629436" cy="31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0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AF8A-3417-F1C9-9544-3844D414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BE1E8B-CC85-9A4E-4FAD-067AA7221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088" y="0"/>
            <a:ext cx="7455825" cy="310659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BDE42EC-0E10-9FDE-E04C-01212BEE3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076" y="3106594"/>
            <a:ext cx="7759848" cy="323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87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FFDE8-B13C-26F0-CF5C-1EA0DE0C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dados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12AE92-3FF8-6E5F-729C-F4C1F1A95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Foi utilizado o dataset MNIST, que é pré-processado e dividido em conjuntos de treino, validação e teste. Para CNN </a:t>
            </a:r>
            <a:r>
              <a:rPr lang="pt-BR" dirty="0"/>
              <a:t>foram utilizadas as </a:t>
            </a:r>
            <a:r>
              <a:rPr lang="pt-BR" sz="2000" dirty="0"/>
              <a:t>imagens brutas, e para a MLP foram utilizados vetores HOG. O processamento é dividido em 5 etapas:</a:t>
            </a:r>
          </a:p>
          <a:p>
            <a:r>
              <a:rPr lang="pt-BR" sz="2000" dirty="0"/>
              <a:t>1. Carregamento dos dados do Keras;</a:t>
            </a:r>
            <a:br>
              <a:rPr lang="pt-BR" sz="2000" dirty="0"/>
            </a:br>
            <a:r>
              <a:rPr lang="pt-BR" sz="2000" dirty="0"/>
              <a:t>2. Filtro de valores 0 e 1 caso o experimento seja binário;</a:t>
            </a:r>
            <a:br>
              <a:rPr lang="pt-BR" sz="2000" dirty="0"/>
            </a:br>
            <a:r>
              <a:rPr lang="pt-BR" sz="2000" dirty="0"/>
              <a:t>3. Divisão dos dados em conjuntos de treino e validação.</a:t>
            </a:r>
            <a:br>
              <a:rPr lang="pt-BR" sz="2000" dirty="0"/>
            </a:br>
            <a:r>
              <a:rPr lang="pt-BR" sz="2000" dirty="0"/>
              <a:t>4. Redimensionamento das imagens adicionando um canal de cor, e normalizando os pixels para o intervalo [0, 1].</a:t>
            </a:r>
            <a:br>
              <a:rPr lang="pt-BR" sz="2000" dirty="0"/>
            </a:br>
            <a:r>
              <a:rPr lang="pt-BR" sz="2000" dirty="0"/>
              <a:t>5. Conversão dos rótulos para o formato </a:t>
            </a:r>
            <a:r>
              <a:rPr lang="pt-BR" sz="2000" dirty="0" err="1"/>
              <a:t>one</a:t>
            </a:r>
            <a:r>
              <a:rPr lang="pt-BR" sz="2000" dirty="0"/>
              <a:t>-hot </a:t>
            </a:r>
            <a:r>
              <a:rPr lang="pt-BR" sz="2000" dirty="0" err="1"/>
              <a:t>encoding</a:t>
            </a:r>
            <a:r>
              <a:rPr lang="pt-BR" sz="2000" dirty="0"/>
              <a:t>.</a:t>
            </a:r>
            <a:endParaRPr lang="en-US" sz="2000" dirty="0"/>
          </a:p>
          <a:p>
            <a:pPr lvl="1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20264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FB2D0-2D65-13C2-ACE5-DC98682F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513BC64-CAAA-8F05-2D0D-450EE2FE6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21" y="1253254"/>
            <a:ext cx="4932692" cy="496843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E25C7E0-3A12-5426-BD2D-6F83D1EE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865" y="2196692"/>
            <a:ext cx="6063257" cy="2464616"/>
          </a:xfrm>
          <a:prstGeom prst="rect">
            <a:avLst/>
          </a:prstGeom>
        </p:spPr>
      </p:pic>
      <p:sp>
        <p:nvSpPr>
          <p:cNvPr id="7" name="Título 5">
            <a:extLst>
              <a:ext uri="{FF2B5EF4-FFF2-40B4-BE49-F238E27FC236}">
                <a16:creationId xmlns:a16="http://schemas.microsoft.com/office/drawing/2014/main" id="{586B5D96-2D05-650A-B1E1-91DCB1200168}"/>
              </a:ext>
            </a:extLst>
          </p:cNvPr>
          <p:cNvSpPr txBox="1">
            <a:spLocks/>
          </p:cNvSpPr>
          <p:nvPr/>
        </p:nvSpPr>
        <p:spPr>
          <a:xfrm>
            <a:off x="370788" y="197531"/>
            <a:ext cx="10058400" cy="747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Pré-processamento - Implementação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6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88192-2ACA-3EBE-E51E-459FAB72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Determinação de parâmetros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B18032-A65B-88E0-257C-28A70C342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parâmetros da arquitetura são definidos automaticamente por otimização de hiperparâmetros, usando a biblioteca Keras Tuner com a estratégia de Bayesian Optimization. </a:t>
            </a:r>
            <a:br>
              <a:rPr lang="pt-BR" dirty="0"/>
            </a:br>
            <a:r>
              <a:rPr lang="pt-BR" dirty="0"/>
              <a:t>O Tuner pode otimizar:</a:t>
            </a:r>
          </a:p>
          <a:p>
            <a:pPr lvl="1"/>
            <a:r>
              <a:rPr lang="pt-BR" dirty="0"/>
              <a:t>O número de camadas convolucionais e densas</a:t>
            </a:r>
          </a:p>
          <a:p>
            <a:pPr lvl="1"/>
            <a:r>
              <a:rPr lang="pt-BR" dirty="0"/>
              <a:t>O número de filtros e unidades em cada camada</a:t>
            </a:r>
          </a:p>
          <a:p>
            <a:pPr lvl="1"/>
            <a:r>
              <a:rPr lang="pt-BR" dirty="0"/>
              <a:t>O tamanho do kernel e a função de ativação</a:t>
            </a:r>
          </a:p>
          <a:p>
            <a:pPr lvl="1"/>
            <a:r>
              <a:rPr lang="pt-BR" dirty="0"/>
              <a:t>A presença e a taxa de dropout</a:t>
            </a:r>
          </a:p>
          <a:p>
            <a:pPr lvl="1"/>
            <a:r>
              <a:rPr lang="pt-BR" dirty="0"/>
              <a:t>A taxa de aprendizado do otimizador Adam</a:t>
            </a:r>
          </a:p>
          <a:p>
            <a:r>
              <a:rPr lang="pt-BR" dirty="0"/>
              <a:t>São ajustáveis também no código o número de trials, número de épocas para cada trial e a paciência dos modelos.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6370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B76F613-6B71-B78D-2B56-0F2C612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 dinâmica de execução</a:t>
            </a:r>
            <a:endParaRPr lang="en-US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D5C2B488-0321-8FFB-08C6-4F8C1FDAAC94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BBABA0-F9DB-7432-6737-F3A8BF4EB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execução do programa executa 4 experimentos como explicado anteriormente:</a:t>
            </a:r>
          </a:p>
          <a:p>
            <a:pPr lvl="1"/>
            <a:r>
              <a:rPr lang="pt-BR" dirty="0"/>
              <a:t>São definidos o número de trials, épocas e paciência nos experimentos;</a:t>
            </a:r>
          </a:p>
          <a:p>
            <a:pPr lvl="1"/>
            <a:r>
              <a:rPr lang="pt-BR" dirty="0"/>
              <a:t>A cada execução de Trial, um conjunto de parâmetros é escolhido pelo Tuner. Durante sua execução os melhores parâmetros encontrados até o momento são mostrados, sob o critério de maior precisão;</a:t>
            </a:r>
          </a:p>
          <a:p>
            <a:pPr lvl="1"/>
            <a:r>
              <a:rPr lang="pt-BR" dirty="0"/>
              <a:t>Se durante um trial o número de épocas sem diminuição na </a:t>
            </a:r>
            <a:r>
              <a:rPr lang="pt-BR" i="1" dirty="0"/>
              <a:t>loss</a:t>
            </a:r>
            <a:r>
              <a:rPr lang="pt-BR" dirty="0"/>
              <a:t> for maior que a paciência, o trial é parado.</a:t>
            </a:r>
          </a:p>
          <a:p>
            <a:pPr lvl="1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DE6D67E-CEF7-66B4-3EFE-46349016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316" y="3565183"/>
            <a:ext cx="44291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54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2AE9-AAA0-2DFA-8D19-20B1F30C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8454DB2-A509-9952-E964-48454DB8A2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0788" y="197531"/>
            <a:ext cx="10058400" cy="747712"/>
          </a:xfrm>
        </p:spPr>
        <p:txBody>
          <a:bodyPr/>
          <a:lstStyle/>
          <a:p>
            <a:r>
              <a:rPr lang="pt-BR" dirty="0"/>
              <a:t>Treinamento - Implementação</a:t>
            </a:r>
            <a:endParaRPr lang="en-US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C873E55D-AA7D-1F77-F184-85A9B86EF093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EE91472-19DD-D6C1-E1B4-67852265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672" y="988906"/>
            <a:ext cx="5016655" cy="52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55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7164-FB3E-48A8-BC57-3B43BBFF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11AB72D-7F80-5EDD-EBE3-D84FE675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de Erro</a:t>
            </a:r>
            <a:endParaRPr lang="en-US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7AB3B23-8863-1823-F094-05EA737CF501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AB8E005-5713-56ED-1797-B3CA90C9BD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01168" lvl="1" indent="0">
                  <a:buNone/>
                </a:pPr>
                <a:endParaRPr lang="pt-BR" dirty="0"/>
              </a:p>
              <a:p>
                <a:pPr marL="201168" lvl="1" indent="0">
                  <a:buNone/>
                </a:pPr>
                <a:r>
                  <a:rPr lang="pt-BR" dirty="0"/>
                  <a:t>Nesta implementação, foi utilizada a função de perda </a:t>
                </a:r>
                <a:r>
                  <a:rPr lang="pt-BR" i="1" dirty="0"/>
                  <a:t>categorical_crossentropy. </a:t>
                </a:r>
                <a:r>
                  <a:rPr lang="pt-BR" dirty="0"/>
                  <a:t>Ela</a:t>
                </a:r>
                <a:r>
                  <a:rPr lang="pt-BR" i="1" dirty="0"/>
                  <a:t> </a:t>
                </a:r>
                <a:r>
                  <a:rPr lang="pt-BR" dirty="0"/>
                  <a:t>mede a dissimilaridade entre a distribuição prevista pelo modelo (</a:t>
                </a:r>
                <a:r>
                  <a:rPr lang="pt-BR" i="1" dirty="0"/>
                  <a:t>softmax</a:t>
                </a:r>
                <a:r>
                  <a:rPr lang="pt-BR" dirty="0"/>
                  <a:t>) e a distribuição verdadeira (</a:t>
                </a:r>
                <a:r>
                  <a:rPr lang="pt-BR" i="1" dirty="0"/>
                  <a:t>one-hot</a:t>
                </a:r>
                <a:r>
                  <a:rPr lang="pt-BR" dirty="0"/>
                  <a:t>). É definida como:</a:t>
                </a:r>
              </a:p>
              <a:p>
                <a:pPr marL="201168" lvl="1" indent="0">
                  <a:buNone/>
                </a:pPr>
                <a:endParaRPr lang="pt-BR" dirty="0"/>
              </a:p>
              <a:p>
                <a:pPr marL="201168" lvl="1" indent="0">
                  <a:buNone/>
                </a:pPr>
                <a:r>
                  <a:rPr lang="pt-BR" dirty="0"/>
                  <a:t>      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pt-BR" b="0" dirty="0"/>
              </a:p>
              <a:p>
                <a:pPr marL="201168" lvl="1" indent="0">
                  <a:buNone/>
                </a:pPr>
                <a:endParaRPr lang="pt-BR" b="0" dirty="0"/>
              </a:p>
              <a:p>
                <a:pPr marL="201168" lvl="1" indent="0">
                  <a:buNone/>
                </a:pPr>
                <a:r>
                  <a:rPr lang="pt-BR" b="0" dirty="0"/>
                  <a:t>Essa função penaliza fortemente predições incorretas com alta confiança e recompensa predições corretas com alta confiança, ajudando o modelo a ajustar seus pesos para melhorar a distribuição de probabilidades prevista.</a:t>
                </a:r>
              </a:p>
              <a:p>
                <a:pPr marL="201168" lvl="1" indent="0">
                  <a:buNone/>
                </a:pPr>
                <a:endParaRPr lang="pt-BR" dirty="0"/>
              </a:p>
              <a:p>
                <a:pPr marL="201168" lvl="1" indent="0">
                  <a:buNone/>
                </a:pPr>
                <a:endParaRPr lang="pt-BR" b="0" dirty="0"/>
              </a:p>
              <a:p>
                <a:pPr marL="201168" lvl="1" indent="0">
                  <a:buNone/>
                </a:pPr>
                <a:endParaRPr lang="pt-BR" b="0" dirty="0"/>
              </a:p>
              <a:p>
                <a:pPr marL="201168" lvl="1" indent="0">
                  <a:buNone/>
                </a:pPr>
                <a:endParaRPr lang="pt-BR" dirty="0"/>
              </a:p>
              <a:p>
                <a:pPr marL="201168" lvl="1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DAB8E005-5713-56ED-1797-B3CA90C9BD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3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149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F314-984F-5496-A016-70350A9F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2C550-54E3-C168-E7D9-43DDA84FA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CNN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94421-54E2-56E2-438A-FA0596A26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1800" dirty="0"/>
              <a:t>Para cada camada convolucional, seus valores possíveis para cada parâmetro são:</a:t>
            </a:r>
          </a:p>
          <a:p>
            <a:pPr lvl="1"/>
            <a:r>
              <a:rPr lang="pt-BR" dirty="0"/>
              <a:t>Quantidade: 1 ou 2</a:t>
            </a:r>
          </a:p>
          <a:p>
            <a:pPr lvl="1"/>
            <a:r>
              <a:rPr lang="pt-BR" dirty="0"/>
              <a:t>Filtros: [32, 64, 96, 128, 160, 192, 224, 256]</a:t>
            </a:r>
          </a:p>
          <a:p>
            <a:pPr lvl="1"/>
            <a:r>
              <a:rPr lang="pt-BR" dirty="0"/>
              <a:t>Tamanho do Kernel: 3x3 ou 5x5</a:t>
            </a:r>
          </a:p>
          <a:p>
            <a:pPr lvl="1"/>
            <a:r>
              <a:rPr lang="pt-BR" dirty="0"/>
              <a:t>Função de Ativação: </a:t>
            </a:r>
            <a:r>
              <a:rPr lang="pt-BR" dirty="0" err="1"/>
              <a:t>relu</a:t>
            </a:r>
            <a:r>
              <a:rPr lang="pt-BR" dirty="0"/>
              <a:t> ou </a:t>
            </a:r>
            <a:r>
              <a:rPr lang="pt-BR" dirty="0" err="1"/>
              <a:t>tanh</a:t>
            </a:r>
            <a:endParaRPr lang="pt-BR" dirty="0"/>
          </a:p>
          <a:p>
            <a:pPr marL="201168" lvl="1" indent="0">
              <a:buNone/>
            </a:pPr>
            <a:endParaRPr lang="pt-BR" dirty="0"/>
          </a:p>
          <a:p>
            <a:pPr marL="201168" lvl="1" indent="0">
              <a:buNone/>
            </a:pPr>
            <a:r>
              <a:rPr lang="pt-BR" dirty="0"/>
              <a:t>Após cada camada convolucional, é aplicado um MaxPooling2D de 2x2.</a:t>
            </a:r>
          </a:p>
          <a:p>
            <a:pPr marL="201168" lvl="1" indent="0">
              <a:buNone/>
            </a:pPr>
            <a:endParaRPr lang="pt-BR" sz="1800" dirty="0"/>
          </a:p>
          <a:p>
            <a:pPr marL="201168" lvl="1" indent="0">
              <a:buNone/>
            </a:pPr>
            <a:r>
              <a:rPr lang="pt-BR" sz="1800" dirty="0"/>
              <a:t>As camadas densas também são geradas dinamicamente, com os possíveis valores para os parâmetros:</a:t>
            </a:r>
          </a:p>
          <a:p>
            <a:pPr lvl="1"/>
            <a:r>
              <a:rPr lang="pt-BR" dirty="0"/>
              <a:t>Número de Camadas: 1 ou 2</a:t>
            </a:r>
          </a:p>
          <a:p>
            <a:pPr lvl="1"/>
            <a:r>
              <a:rPr lang="pt-BR" dirty="0"/>
              <a:t>Quantidade de neurônios: [64, 128, 192, 256, 320, 384, 448, 512]</a:t>
            </a:r>
          </a:p>
          <a:p>
            <a:pPr lvl="1"/>
            <a:r>
              <a:rPr lang="pt-BR" dirty="0"/>
              <a:t>Função de Ativação: </a:t>
            </a:r>
            <a:r>
              <a:rPr lang="pt-BR" dirty="0" err="1"/>
              <a:t>relu</a:t>
            </a:r>
            <a:r>
              <a:rPr lang="pt-BR" dirty="0"/>
              <a:t> ou </a:t>
            </a:r>
            <a:r>
              <a:rPr lang="pt-BR" dirty="0" err="1"/>
              <a:t>tanh</a:t>
            </a:r>
            <a:endParaRPr lang="pt-BR" dirty="0"/>
          </a:p>
          <a:p>
            <a:pPr lvl="1"/>
            <a:r>
              <a:rPr lang="pt-BR" dirty="0"/>
              <a:t>Dropout rate: 0.1 a 0.5</a:t>
            </a:r>
          </a:p>
          <a:p>
            <a:pPr marL="201168" lvl="1" indent="0">
              <a:buNone/>
            </a:pPr>
            <a:endParaRPr lang="pt-BR" dirty="0"/>
          </a:p>
          <a:p>
            <a:pPr marL="201168" lvl="1" indent="0">
              <a:buNone/>
            </a:pPr>
            <a:r>
              <a:rPr lang="pt-BR" dirty="0"/>
              <a:t>As camadas de saída possuem 10 neurônios para multiclasse ou 2 para binária, com função de ativação softmax.</a:t>
            </a:r>
          </a:p>
          <a:p>
            <a:pPr marL="201168" lvl="1" indent="0">
              <a:buNone/>
            </a:pPr>
            <a:endParaRPr lang="pt-BR" dirty="0"/>
          </a:p>
          <a:p>
            <a:pPr marL="201168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095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147E-5A57-03F3-03A2-2EE32491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0A519-6011-55B9-CF9D-08079655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CNN - Implementação</a:t>
            </a:r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6A570C4-4B34-0DCE-65D4-717B7D57F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074" y="1827409"/>
            <a:ext cx="6389851" cy="4487585"/>
          </a:xfrm>
        </p:spPr>
      </p:pic>
    </p:spTree>
    <p:extLst>
      <p:ext uri="{BB962C8B-B14F-4D97-AF65-F5344CB8AC3E}">
        <p14:creationId xmlns:p14="http://schemas.microsoft.com/office/powerpoint/2010/main" val="1265617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E1CA-3EA6-E121-60FE-1C30EFD77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E150E8B-CAF4-EF92-836A-B75741A52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 - Multiclasse</a:t>
            </a:r>
            <a:endParaRPr lang="en-US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201B9CCE-61BA-288B-DA81-9CA3BF2C5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69" y="1822200"/>
            <a:ext cx="6067091" cy="4465477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6BEA0C2-AE44-82A5-27AF-0E7FC11E6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978" y="1822201"/>
            <a:ext cx="5953970" cy="446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42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F18AF-FECC-8425-0F58-DA7A0175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322A973-F0BF-8D1E-3B46-BF5088CE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MLP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EEDE873-23C6-F779-36A8-D1361F046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92644"/>
          </a:xfrm>
        </p:spPr>
        <p:txBody>
          <a:bodyPr>
            <a:normAutofit/>
          </a:bodyPr>
          <a:lstStyle/>
          <a:p>
            <a:pPr marL="1094296" lvl="1" indent="-263525" defTabSz="801688">
              <a:buFont typeface="Arial" panose="020B0604020202020204" pitchFamily="34" charset="0"/>
              <a:buChar char="•"/>
            </a:pPr>
            <a:endParaRPr lang="pt-BR" dirty="0"/>
          </a:p>
          <a:p>
            <a:pPr marL="1094296" lvl="1" indent="-263525" defTabSz="801688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C4539BC3-8C7D-5651-10C8-D7497710BE4A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Font typeface="Calibri" pitchFamily="34" charset="0"/>
              <a:buNone/>
            </a:pPr>
            <a:r>
              <a:rPr lang="pt-BR" dirty="0"/>
              <a:t>Este modelo é aplicado sobre vetores unidimensionais extraídos do HOG e possui uma estrutura totalmente conectada. Também possui uma arquitetura flexível com o Keras.</a:t>
            </a:r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  <a:p>
            <a:pPr marL="201168" lvl="1" indent="0">
              <a:buFont typeface="Calibri" pitchFamily="34" charset="0"/>
              <a:buNone/>
            </a:pPr>
            <a:r>
              <a:rPr lang="pt-BR" dirty="0"/>
              <a:t>As camadas densas possuem os possíveis valores para os parâmetros:</a:t>
            </a:r>
          </a:p>
          <a:p>
            <a:pPr lvl="1"/>
            <a:r>
              <a:rPr lang="pt-BR" dirty="0"/>
              <a:t>Número de Camadas: 1 ou 2</a:t>
            </a:r>
          </a:p>
          <a:p>
            <a:pPr lvl="1"/>
            <a:r>
              <a:rPr lang="pt-BR" dirty="0"/>
              <a:t>Quantidade de neurônios: [64, 128, 192, 256, 320, 384, 448, 512]</a:t>
            </a:r>
          </a:p>
          <a:p>
            <a:pPr lvl="1"/>
            <a:r>
              <a:rPr lang="pt-BR" dirty="0"/>
              <a:t>Função de Ativação: </a:t>
            </a:r>
            <a:r>
              <a:rPr lang="pt-BR" dirty="0" err="1"/>
              <a:t>relu</a:t>
            </a:r>
            <a:endParaRPr lang="pt-BR" dirty="0"/>
          </a:p>
          <a:p>
            <a:pPr lvl="1"/>
            <a:r>
              <a:rPr lang="pt-BR" dirty="0"/>
              <a:t>Dropout: </a:t>
            </a:r>
            <a:r>
              <a:rPr lang="pt-BR" dirty="0" err="1"/>
              <a:t>True</a:t>
            </a:r>
            <a:r>
              <a:rPr lang="pt-BR" dirty="0"/>
              <a:t> ou False</a:t>
            </a:r>
          </a:p>
          <a:p>
            <a:pPr lvl="1"/>
            <a:r>
              <a:rPr lang="pt-BR" dirty="0"/>
              <a:t>Dropout rate: 0.1 a 0.5</a:t>
            </a:r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  <a:p>
            <a:pPr marL="201168" lvl="1" indent="0">
              <a:buFont typeface="Calibri" pitchFamily="34" charset="0"/>
              <a:buNone/>
            </a:pPr>
            <a:r>
              <a:rPr lang="pt-BR" dirty="0"/>
              <a:t>As camadas de saída possuem 10 neurônios para multiclasse ou 2 para binária, com função de ativação softmax.</a:t>
            </a:r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  <a:p>
            <a:pPr marL="201168" lvl="1" indent="0">
              <a:buFont typeface="Calibri" pitchFamily="34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5493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CB15-D405-E181-486B-0592AD0B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32137-D60A-F512-5121-D069C31E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MLP - Implementação</a:t>
            </a:r>
            <a:endParaRPr lang="en-US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69F186F-1FC3-70F0-B8E3-9E2CC3EDB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9813" y="2241027"/>
            <a:ext cx="8372374" cy="3735568"/>
          </a:xfrm>
        </p:spPr>
      </p:pic>
    </p:spTree>
    <p:extLst>
      <p:ext uri="{BB962C8B-B14F-4D97-AF65-F5344CB8AC3E}">
        <p14:creationId xmlns:p14="http://schemas.microsoft.com/office/powerpoint/2010/main" val="3745791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4620-8BB1-8EAB-40EA-41E61522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6048442-F8EA-08BA-E348-228D0AD7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 - Binária</a:t>
            </a:r>
            <a:endParaRPr lang="en-US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BB5DAFF7-5B26-0413-917D-36B5C088E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24" y="2035321"/>
            <a:ext cx="5632103" cy="4224077"/>
          </a:xfr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09824F2-4E74-FB0D-AA59-8DAAB2404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470" y="2035320"/>
            <a:ext cx="5632103" cy="422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78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EAFE-E71A-8589-4A62-312A20DD2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642BE3B-EBA8-5E54-216C-B601AEDC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ROC </a:t>
            </a:r>
            <a:endParaRPr lang="en-US" dirty="0"/>
          </a:p>
        </p:txBody>
      </p:sp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B8237E61-4486-FA27-FB7F-6D4A20CD3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28" y="1920580"/>
            <a:ext cx="5651593" cy="4238695"/>
          </a:xfr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D75AA1B-6E62-846E-E4E3-89278A2C39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20581"/>
            <a:ext cx="5651594" cy="423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17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DBD10-10E1-6035-30A9-34A17444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73915189-1838-24FC-D1DE-552A84B83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FBF432E-3ADD-2B04-9570-73663B022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2" name="Straight Connector 11">
            <a:extLst>
              <a:ext uri="{FF2B5EF4-FFF2-40B4-BE49-F238E27FC236}">
                <a16:creationId xmlns:a16="http://schemas.microsoft.com/office/drawing/2014/main" id="{C5CD90F6-1254-0A45-F106-593D91EA8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13">
            <a:extLst>
              <a:ext uri="{FF2B5EF4-FFF2-40B4-BE49-F238E27FC236}">
                <a16:creationId xmlns:a16="http://schemas.microsoft.com/office/drawing/2014/main" id="{82D86522-7347-F55F-C382-E76B548B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E0E21F59-D6D0-EE23-4FD4-4E2A24779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F76F1D2A-B8BF-C86A-0C2F-1A3F0237E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A04985-858E-9693-0801-750D9FF8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41" y="736600"/>
            <a:ext cx="4230617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dirty="0">
                <a:solidFill>
                  <a:srgbClr val="FFFFFF"/>
                </a:solidFill>
              </a:rPr>
              <a:t>MLP</a:t>
            </a: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6800" dirty="0" err="1">
                <a:solidFill>
                  <a:srgbClr val="FFFFFF"/>
                </a:solidFill>
              </a:rPr>
              <a:t>Vídeo</a:t>
            </a:r>
            <a:r>
              <a:rPr lang="en-US" sz="6800" dirty="0">
                <a:solidFill>
                  <a:srgbClr val="FFFFFF"/>
                </a:solidFill>
              </a:rPr>
              <a:t> 3</a:t>
            </a: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4400" dirty="0" err="1">
                <a:solidFill>
                  <a:srgbClr val="FFFFFF"/>
                </a:solidFill>
              </a:rPr>
              <a:t>Implementação</a:t>
            </a:r>
            <a:r>
              <a:rPr lang="en-US" sz="4400" dirty="0">
                <a:solidFill>
                  <a:srgbClr val="FFFFFF"/>
                </a:solidFill>
              </a:rPr>
              <a:t> e testes: CNN</a:t>
            </a:r>
            <a:endParaRPr lang="en-US" sz="6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D2D788-F2D7-C505-5F28-CC07B4EC8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4734" y="1805095"/>
            <a:ext cx="7745542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chemeClr val="lt1"/>
                </a:solidFill>
              </a:rPr>
              <a:t>11796718 – LUCAS SARTOR CHAUVIN</a:t>
            </a:r>
            <a:endParaRPr lang="pt-BR" sz="2600" dirty="0"/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600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rgbClr val="FFFFFF"/>
                </a:solidFill>
              </a:rPr>
              <a:t>12873188 –  GABRIEL BERNARDINI SCHIMIDT</a:t>
            </a: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chemeClr val="lt1"/>
                </a:solidFill>
              </a:rPr>
              <a:t>14564405 – CAUÃ GABRIEL MUNIZ DOS SANTOS</a:t>
            </a:r>
            <a:br>
              <a:rPr lang="pt-BR" sz="2600" dirty="0">
                <a:solidFill>
                  <a:schemeClr val="lt1"/>
                </a:solidFill>
              </a:rPr>
            </a:br>
            <a:br>
              <a:rPr lang="pt-BR" sz="2600" dirty="0">
                <a:solidFill>
                  <a:srgbClr val="FFFFFF"/>
                </a:solidFill>
              </a:rPr>
            </a:br>
            <a:r>
              <a:rPr lang="pt-BR" sz="2600" dirty="0">
                <a:solidFill>
                  <a:srgbClr val="FFFFFF"/>
                </a:solidFill>
              </a:rPr>
              <a:t>14592498 –  LUIS YUDI ODAKE FERREIRA</a:t>
            </a: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600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pt-BR" sz="2600" dirty="0">
                <a:solidFill>
                  <a:srgbClr val="FFFFFF"/>
                </a:solidFill>
              </a:rPr>
              <a:t>14778136 – LEONEL MARCO ANTONIO MORGADO</a:t>
            </a:r>
            <a:endParaRPr lang="pt-BR" sz="2600" dirty="0"/>
          </a:p>
          <a:p>
            <a:pPr lvl="0">
              <a:spcBef>
                <a:spcPts val="0"/>
              </a:spcBef>
              <a:spcAft>
                <a:spcPts val="0"/>
              </a:spcAft>
              <a:buSzPts val="2400"/>
            </a:pPr>
            <a:endParaRPr lang="pt-BR" sz="2800" i="1" dirty="0">
              <a:solidFill>
                <a:srgbClr val="FFFFFF"/>
              </a:solidFill>
            </a:endParaRPr>
          </a:p>
          <a:p>
            <a:endParaRPr lang="en-US" sz="28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876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1044</TotalTime>
  <Words>936</Words>
  <Application>Microsoft Office PowerPoint</Application>
  <PresentationFormat>Widescreen</PresentationFormat>
  <Paragraphs>126</Paragraphs>
  <Slides>25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Retrospectiva</vt:lpstr>
      <vt:lpstr>MLP Vídeo 3  Implementação e testes: CNN</vt:lpstr>
      <vt:lpstr>Dinâmica de treinamento e teste</vt:lpstr>
      <vt:lpstr>Dinâmica de treinamento e teste</vt:lpstr>
      <vt:lpstr>Apresentação do PowerPoint</vt:lpstr>
      <vt:lpstr>Apresentação do PowerPoint</vt:lpstr>
      <vt:lpstr>Análise Camadas de Convolução Multiclasse</vt:lpstr>
      <vt:lpstr>Análise Camadas de Convolução Binária</vt:lpstr>
      <vt:lpstr>Acurácia x Tempo</vt:lpstr>
      <vt:lpstr>Taxa de Aprendizado x Tempo</vt:lpstr>
      <vt:lpstr>Apresentação do PowerPoint</vt:lpstr>
      <vt:lpstr>Apresentação do PowerPoint</vt:lpstr>
      <vt:lpstr>Conjunto de dados</vt:lpstr>
      <vt:lpstr>Apresentação do PowerPoint</vt:lpstr>
      <vt:lpstr>Determinação de parâmetros</vt:lpstr>
      <vt:lpstr>Arquitetura e dinâmica de execução</vt:lpstr>
      <vt:lpstr>Treinamento - Implementação</vt:lpstr>
      <vt:lpstr>Cálculo de Erro</vt:lpstr>
      <vt:lpstr>Arquitetura CNN</vt:lpstr>
      <vt:lpstr>Arquitetura CNN - Implementação</vt:lpstr>
      <vt:lpstr>Matriz de Confusão - Multiclasse</vt:lpstr>
      <vt:lpstr>Arquitetura MLP</vt:lpstr>
      <vt:lpstr>Arquitetura MLP - Implementação</vt:lpstr>
      <vt:lpstr>Matriz de Confusão - Binária</vt:lpstr>
      <vt:lpstr>Curva ROC </vt:lpstr>
      <vt:lpstr>MLP Vídeo 3  Implementação e testes: CNN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Sarajane Peres</dc:creator>
  <cp:lastModifiedBy>ººººººº '</cp:lastModifiedBy>
  <cp:revision>17</cp:revision>
  <dcterms:created xsi:type="dcterms:W3CDTF">2025-04-25T19:54:16Z</dcterms:created>
  <dcterms:modified xsi:type="dcterms:W3CDTF">2025-06-21T14:29:48Z</dcterms:modified>
</cp:coreProperties>
</file>